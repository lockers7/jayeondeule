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0000" y="200000"/>
            <a:ext cx="696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695C"/>
                </a:solidFill>
              </a:defRPr>
            </a:pPr>
            <a:r>
              <a:t>AgriAI Core — 모듈 구조도</a:t>
            </a:r>
          </a:p>
          <a:p>
            <a:pPr algn="ctr">
              <a:defRPr sz="1000">
                <a:solidFill>
                  <a:srgbClr val="78909C"/>
                </a:solidFill>
              </a:defRPr>
            </a:pPr>
            <a:r>
              <a:t>자연들에 스마트팜 AI 환경제어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0000" y="900000"/>
            <a:ext cx="696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695C"/>
                </a:solidFill>
              </a:rPr>
              <a:t>■ agri_ai_core/</a:t>
            </a:r>
            <a:r>
              <a:rPr sz="750">
                <a:solidFill>
                  <a:srgbClr val="78909C"/>
                </a:solidFill>
              </a:rPr>
              <a:t>  (패키지 루트)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0000" y="1110000"/>
            <a:ext cx="33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7474F"/>
                </a:solidFill>
              </a:rPr>
              <a:t>├─ logs.py</a:t>
            </a:r>
            <a:r>
              <a:rPr sz="700">
                <a:solidFill>
                  <a:srgbClr val="647882"/>
                </a:solidFill>
              </a:rPr>
              <a:t> (로거·일별 로테이션)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00000" y="1110000"/>
            <a:ext cx="33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7474F"/>
                </a:solidFill>
              </a:rPr>
              <a:t>├─ startup.py</a:t>
            </a:r>
            <a:r>
              <a:rPr sz="700">
                <a:solidFill>
                  <a:srgbClr val="647882"/>
                </a:solidFill>
              </a:rPr>
              <a:t> (서비스 초기화)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0000" y="1315000"/>
            <a:ext cx="696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196F3"/>
                </a:solidFill>
              </a:rPr>
              <a:t>■ config/</a:t>
            </a:r>
            <a:r>
              <a:rPr sz="750">
                <a:solidFill>
                  <a:srgbClr val="78909C"/>
                </a:solidFill>
              </a:rPr>
              <a:t>  (환경 설정)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000" y="1525000"/>
            <a:ext cx="33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7474F"/>
                </a:solidFill>
              </a:rPr>
              <a:t>├─ settings.py</a:t>
            </a:r>
            <a:r>
              <a:rPr sz="700">
                <a:solidFill>
                  <a:srgbClr val="647882"/>
                </a:solidFill>
              </a:rPr>
              <a:t> (DB·LLM·Chroma 설정)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00000" y="1525000"/>
            <a:ext cx="33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7474F"/>
                </a:solidFill>
              </a:rPr>
              <a:t>├─ constants.py</a:t>
            </a:r>
            <a:r>
              <a:rPr sz="700">
                <a:solidFill>
                  <a:srgbClr val="647882"/>
                </a:solidFill>
              </a:rPr>
              <a:t> (시스템 상수·임계값)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0000" y="1690000"/>
            <a:ext cx="33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7474F"/>
                </a:solidFill>
              </a:rPr>
              <a:t>├─ mappers.py</a:t>
            </a:r>
            <a:r>
              <a:rPr sz="700">
                <a:solidFill>
                  <a:srgbClr val="647882"/>
                </a:solidFill>
              </a:rPr>
              <a:t> (센서·릴레이 매핑)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000" y="1895000"/>
            <a:ext cx="696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7043"/>
                </a:solidFill>
              </a:rPr>
              <a:t>■ api/</a:t>
            </a:r>
            <a:r>
              <a:rPr sz="750">
                <a:solidFill>
                  <a:srgbClr val="78909C"/>
                </a:solidFill>
              </a:rPr>
              <a:t>  (REST API 서버)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000" y="2105000"/>
            <a:ext cx="33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7474F"/>
                </a:solidFill>
              </a:rPr>
              <a:t>├─ app.py</a:t>
            </a:r>
            <a:r>
              <a:rPr sz="700">
                <a:solidFill>
                  <a:srgbClr val="647882"/>
                </a:solidFill>
              </a:rPr>
              <a:t> (FastAPI 메인·LLM질의·RAG)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0000" y="2105000"/>
            <a:ext cx="33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7474F"/>
                </a:solidFill>
              </a:rPr>
              <a:t>├─ models.py</a:t>
            </a:r>
            <a:r>
              <a:rPr sz="700">
                <a:solidFill>
                  <a:srgbClr val="647882"/>
                </a:solidFill>
              </a:rPr>
              <a:t> (요청/응답 모델)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0000" y="2270000"/>
            <a:ext cx="33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7474F"/>
                </a:solidFill>
              </a:rPr>
              <a:t>├─ rpi_router.py</a:t>
            </a:r>
            <a:r>
              <a:rPr sz="700">
                <a:solidFill>
                  <a:srgbClr val="647882"/>
                </a:solidFill>
              </a:rPr>
              <a:t> (RPi SSH·센서상태)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0000" y="2270000"/>
            <a:ext cx="33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7474F"/>
                </a:solidFill>
              </a:rPr>
              <a:t>├─ voice_router.py</a:t>
            </a:r>
            <a:r>
              <a:rPr sz="700">
                <a:solidFill>
                  <a:srgbClr val="647882"/>
                </a:solidFill>
              </a:rPr>
              <a:t> (STT/TTS 엔드포인트)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000" y="2475000"/>
            <a:ext cx="696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9C27B0"/>
                </a:solidFill>
              </a:rPr>
              <a:t>■ src/ai/</a:t>
            </a:r>
            <a:r>
              <a:rPr sz="750">
                <a:solidFill>
                  <a:srgbClr val="78909C"/>
                </a:solidFill>
              </a:rPr>
              <a:t>  (AI 모듈)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000" y="2685000"/>
            <a:ext cx="33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7474F"/>
                </a:solidFill>
              </a:rPr>
              <a:t>├─ query_handler_simple.py</a:t>
            </a:r>
            <a:r>
              <a:rPr sz="700">
                <a:solidFill>
                  <a:srgbClr val="647882"/>
                </a:solidFill>
              </a:rPr>
              <a:t> (AI질의 핸들러·3단계 파이프라인)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00000" y="2685000"/>
            <a:ext cx="33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7474F"/>
                </a:solidFill>
              </a:rPr>
              <a:t>├─ llm_client.py</a:t>
            </a:r>
            <a:r>
              <a:rPr sz="700">
                <a:solidFill>
                  <a:srgbClr val="647882"/>
                </a:solidFill>
              </a:rPr>
              <a:t> (Ollama LLM통신·Tool Use)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0000" y="2850000"/>
            <a:ext cx="33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7474F"/>
                </a:solidFill>
              </a:rPr>
              <a:t>├─ llm_response.py</a:t>
            </a:r>
            <a:r>
              <a:rPr sz="700">
                <a:solidFill>
                  <a:srgbClr val="647882"/>
                </a:solidFill>
              </a:rPr>
              <a:t> (응답정제·마크다운·URL필터)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00000" y="2850000"/>
            <a:ext cx="33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7474F"/>
                </a:solidFill>
              </a:rPr>
              <a:t>├─ tools_executor.py</a:t>
            </a:r>
            <a:r>
              <a:rPr sz="700">
                <a:solidFill>
                  <a:srgbClr val="647882"/>
                </a:solidFill>
              </a:rPr>
              <a:t> (도구실행·DB·릴레이제어)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000" y="3015000"/>
            <a:ext cx="33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7474F"/>
                </a:solidFill>
              </a:rPr>
              <a:t>├─ tools_search.py</a:t>
            </a:r>
            <a:r>
              <a:rPr sz="700">
                <a:solidFill>
                  <a:srgbClr val="647882"/>
                </a:solidFill>
              </a:rPr>
              <a:t> (웹검색·Naver/Brave/SearXNG)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00000" y="3015000"/>
            <a:ext cx="33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7474F"/>
                </a:solidFill>
              </a:rPr>
              <a:t>├─ tools_definition.py</a:t>
            </a:r>
            <a:r>
              <a:rPr sz="700">
                <a:solidFill>
                  <a:srgbClr val="647882"/>
                </a:solidFill>
              </a:rPr>
              <a:t> (LLM 도구 스키마)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0000" y="3180000"/>
            <a:ext cx="33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7474F"/>
                </a:solidFill>
              </a:rPr>
              <a:t>├─ mcp_client.py</a:t>
            </a:r>
            <a:r>
              <a:rPr sz="700">
                <a:solidFill>
                  <a:srgbClr val="647882"/>
                </a:solidFill>
              </a:rPr>
              <a:t> (MCP/HTTP 통신 인프라)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00000" y="3180000"/>
            <a:ext cx="33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7474F"/>
                </a:solidFill>
              </a:rPr>
              <a:t>├─ conversation_store.py</a:t>
            </a:r>
            <a:r>
              <a:rPr sz="700">
                <a:solidFill>
                  <a:srgbClr val="647882"/>
                </a:solidFill>
              </a:rPr>
              <a:t> (대화이력 저장·조회)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0000" y="3345000"/>
            <a:ext cx="33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7474F"/>
                </a:solidFill>
              </a:rPr>
              <a:t>├─ stats_collector.py</a:t>
            </a:r>
            <a:r>
              <a:rPr sz="700">
                <a:solidFill>
                  <a:srgbClr val="647882"/>
                </a:solidFill>
              </a:rPr>
              <a:t> (질의통계 수집)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00000" y="3345000"/>
            <a:ext cx="33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7474F"/>
                </a:solidFill>
              </a:rPr>
              <a:t>├─ file_processor.py</a:t>
            </a:r>
            <a:r>
              <a:rPr sz="700">
                <a:solidFill>
                  <a:srgbClr val="647882"/>
                </a:solidFill>
              </a:rPr>
              <a:t> (PDF·CSV 문서처리)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0000" y="3550000"/>
            <a:ext cx="696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9C27B0"/>
                </a:solidFill>
              </a:rPr>
              <a:t>■ src/ai/pipeline/</a:t>
            </a:r>
            <a:r>
              <a:rPr sz="750">
                <a:solidFill>
                  <a:srgbClr val="78909C"/>
                </a:solidFill>
              </a:rPr>
              <a:t>  (3단계 LLM 파이프라인)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0000" y="3760000"/>
            <a:ext cx="33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7474F"/>
                </a:solidFill>
              </a:rPr>
              <a:t>├─ question_analyzer.py</a:t>
            </a:r>
            <a:r>
              <a:rPr sz="700">
                <a:solidFill>
                  <a:srgbClr val="647882"/>
                </a:solidFill>
              </a:rPr>
              <a:t> (1단계: 질문유형 분석)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00000" y="3760000"/>
            <a:ext cx="33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7474F"/>
                </a:solidFill>
              </a:rPr>
              <a:t>├─ data_collector.py</a:t>
            </a:r>
            <a:r>
              <a:rPr sz="700">
                <a:solidFill>
                  <a:srgbClr val="647882"/>
                </a:solidFill>
              </a:rPr>
              <a:t> (2단계: 데이터수집·검증)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000" y="3925000"/>
            <a:ext cx="33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7474F"/>
                </a:solidFill>
              </a:rPr>
              <a:t>├─ answer_generator.py</a:t>
            </a:r>
            <a:r>
              <a:rPr sz="700">
                <a:solidFill>
                  <a:srgbClr val="647882"/>
                </a:solidFill>
              </a:rPr>
              <a:t> (3단계: 답변생성)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00000" y="3925000"/>
            <a:ext cx="33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7474F"/>
                </a:solidFill>
              </a:rPr>
              <a:t>├─ validators.py</a:t>
            </a:r>
            <a:r>
              <a:rPr sz="700">
                <a:solidFill>
                  <a:srgbClr val="647882"/>
                </a:solidFill>
              </a:rPr>
              <a:t> (데이터 충분성 검증)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0000" y="4090000"/>
            <a:ext cx="33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7474F"/>
                </a:solidFill>
              </a:rPr>
              <a:t>├─ prompts.py</a:t>
            </a:r>
            <a:r>
              <a:rPr sz="700">
                <a:solidFill>
                  <a:srgbClr val="647882"/>
                </a:solidFill>
              </a:rPr>
              <a:t> (시스템 프롬프트)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0000" y="4295000"/>
            <a:ext cx="696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9C27B0"/>
                </a:solidFill>
              </a:rPr>
              <a:t>■ src/ai/rag/</a:t>
            </a:r>
            <a:r>
              <a:rPr sz="750">
                <a:solidFill>
                  <a:srgbClr val="78909C"/>
                </a:solidFill>
              </a:rPr>
              <a:t>  (RAG 파이프라인)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0000" y="4505000"/>
            <a:ext cx="33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7474F"/>
                </a:solidFill>
              </a:rPr>
              <a:t>├─ document_processor.py</a:t>
            </a:r>
            <a:r>
              <a:rPr sz="700">
                <a:solidFill>
                  <a:srgbClr val="647882"/>
                </a:solidFill>
              </a:rPr>
              <a:t> (문서처리 오케스트레이터)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00000" y="4505000"/>
            <a:ext cx="33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7474F"/>
                </a:solidFill>
              </a:rPr>
              <a:t>├─ document_enricher.py</a:t>
            </a:r>
            <a:r>
              <a:rPr sz="700">
                <a:solidFill>
                  <a:srgbClr val="647882"/>
                </a:solidFill>
              </a:rPr>
              <a:t> (Q&amp;A보강·벡터저장)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0000" y="4670000"/>
            <a:ext cx="33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7474F"/>
                </a:solidFill>
              </a:rPr>
              <a:t>├─ embedder.py</a:t>
            </a:r>
            <a:r>
              <a:rPr sz="700">
                <a:solidFill>
                  <a:srgbClr val="647882"/>
                </a:solidFill>
              </a:rPr>
              <a:t> (텍스트 임베딩(bge-m3))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00000" y="4670000"/>
            <a:ext cx="33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7474F"/>
                </a:solidFill>
              </a:rPr>
              <a:t>├─ chunker.py</a:t>
            </a:r>
            <a:r>
              <a:rPr sz="700">
                <a:solidFill>
                  <a:srgbClr val="647882"/>
                </a:solidFill>
              </a:rPr>
              <a:t> (문서 청킹)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0000" y="4835000"/>
            <a:ext cx="33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7474F"/>
                </a:solidFill>
              </a:rPr>
              <a:t>├─ reranker.py</a:t>
            </a:r>
            <a:r>
              <a:rPr sz="700">
                <a:solidFill>
                  <a:srgbClr val="647882"/>
                </a:solidFill>
              </a:rPr>
              <a:t> (검색결과 재랭킹)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0000" y="5040000"/>
            <a:ext cx="696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9C27B0"/>
                </a:solidFill>
              </a:rPr>
              <a:t>■ src/ai/learning/</a:t>
            </a:r>
            <a:r>
              <a:rPr sz="750">
                <a:solidFill>
                  <a:srgbClr val="78909C"/>
                </a:solidFill>
              </a:rPr>
              <a:t>  (학습 모듈)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0000" y="5250000"/>
            <a:ext cx="33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7474F"/>
                </a:solidFill>
              </a:rPr>
              <a:t>├─ growth_rag_processor.py</a:t>
            </a:r>
            <a:r>
              <a:rPr sz="700">
                <a:solidFill>
                  <a:srgbClr val="647882"/>
                </a:solidFill>
              </a:rPr>
              <a:t> (생육데이터 RAG처리)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00000" y="5250000"/>
            <a:ext cx="33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7474F"/>
                </a:solidFill>
              </a:rPr>
              <a:t>├─ data_analyzer.py</a:t>
            </a:r>
            <a:r>
              <a:rPr sz="700">
                <a:solidFill>
                  <a:srgbClr val="647882"/>
                </a:solidFill>
              </a:rPr>
              <a:t> (센서데이터 분석)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0000" y="5415000"/>
            <a:ext cx="33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7474F"/>
                </a:solidFill>
              </a:rPr>
              <a:t>├─ model_trainer.py</a:t>
            </a:r>
            <a:r>
              <a:rPr sz="700">
                <a:solidFill>
                  <a:srgbClr val="647882"/>
                </a:solidFill>
              </a:rPr>
              <a:t> (모델 학습·평가)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0000" y="5620000"/>
            <a:ext cx="696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64A19"/>
                </a:solidFill>
              </a:rPr>
              <a:t>■ src/control/</a:t>
            </a:r>
            <a:r>
              <a:rPr sz="750">
                <a:solidFill>
                  <a:srgbClr val="78909C"/>
                </a:solidFill>
              </a:rPr>
              <a:t>  (환경 제어)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0000" y="5830000"/>
            <a:ext cx="33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7474F"/>
                </a:solidFill>
              </a:rPr>
              <a:t>├─ task_scheduler.py</a:t>
            </a:r>
            <a:r>
              <a:rPr sz="700">
                <a:solidFill>
                  <a:srgbClr val="647882"/>
                </a:solidFill>
              </a:rPr>
              <a:t> (APScheduler 작업관리)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00000" y="5830000"/>
            <a:ext cx="33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7474F"/>
                </a:solidFill>
              </a:rPr>
              <a:t>├─ manual_control.py</a:t>
            </a:r>
            <a:r>
              <a:rPr sz="700">
                <a:solidFill>
                  <a:srgbClr val="647882"/>
                </a:solidFill>
              </a:rPr>
              <a:t> (센서기반 수동제어)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0000" y="5995000"/>
            <a:ext cx="33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7474F"/>
                </a:solidFill>
              </a:rPr>
              <a:t>├─ ai_control.py</a:t>
            </a:r>
            <a:r>
              <a:rPr sz="700">
                <a:solidFill>
                  <a:srgbClr val="647882"/>
                </a:solidFill>
              </a:rPr>
              <a:t> (LLM기반 AI제어)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00000" y="5995000"/>
            <a:ext cx="33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7474F"/>
                </a:solidFill>
              </a:rPr>
              <a:t>├─ schedule_control.py</a:t>
            </a:r>
            <a:r>
              <a:rPr sz="700">
                <a:solidFill>
                  <a:srgbClr val="647882"/>
                </a:solidFill>
              </a:rPr>
              <a:t> (시간기반 스케줄제어)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0000" y="6160000"/>
            <a:ext cx="33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7474F"/>
                </a:solidFill>
              </a:rPr>
              <a:t>├─ relay_manager.py</a:t>
            </a:r>
            <a:r>
              <a:rPr sz="700">
                <a:solidFill>
                  <a:srgbClr val="647882"/>
                </a:solidFill>
              </a:rPr>
              <a:t> (릴레이 하드웨어)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00000" y="6160000"/>
            <a:ext cx="33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7474F"/>
                </a:solidFill>
              </a:rPr>
              <a:t>├─ control_common.py</a:t>
            </a:r>
            <a:r>
              <a:rPr sz="700">
                <a:solidFill>
                  <a:srgbClr val="647882"/>
                </a:solidFill>
              </a:rPr>
              <a:t> (공통상수·핀맵·쿨다운)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0000" y="6365000"/>
            <a:ext cx="696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F51B5"/>
                </a:solidFill>
              </a:rPr>
              <a:t>■ src/postgresql/</a:t>
            </a:r>
            <a:r>
              <a:rPr sz="750">
                <a:solidFill>
                  <a:srgbClr val="78909C"/>
                </a:solidFill>
              </a:rPr>
              <a:t>  (PostgreSQL DB)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0000" y="6575000"/>
            <a:ext cx="33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7474F"/>
                </a:solidFill>
              </a:rPr>
              <a:t>├─ connection.py</a:t>
            </a:r>
            <a:r>
              <a:rPr sz="700">
                <a:solidFill>
                  <a:srgbClr val="647882"/>
                </a:solidFill>
              </a:rPr>
              <a:t> (커넥션풀·MCP/직접접속)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00000" y="6575000"/>
            <a:ext cx="33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7474F"/>
                </a:solidFill>
              </a:rPr>
              <a:t>├─ queries.py</a:t>
            </a:r>
            <a:r>
              <a:rPr sz="700">
                <a:solidFill>
                  <a:srgbClr val="647882"/>
                </a:solidFill>
              </a:rPr>
              <a:t> (SQL 쿼리 상수)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0000" y="6740000"/>
            <a:ext cx="33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7474F"/>
                </a:solidFill>
              </a:rPr>
              <a:t>├─ reader.py</a:t>
            </a:r>
            <a:r>
              <a:rPr sz="700">
                <a:solidFill>
                  <a:srgbClr val="647882"/>
                </a:solidFill>
              </a:rPr>
              <a:t> (센서·릴레이·생육 조회)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0000" y="6945000"/>
            <a:ext cx="696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9688"/>
                </a:solidFill>
              </a:rPr>
              <a:t>■ src/chroma/</a:t>
            </a:r>
            <a:r>
              <a:rPr sz="750">
                <a:solidFill>
                  <a:srgbClr val="78909C"/>
                </a:solidFill>
              </a:rPr>
              <a:t>  (ChromaDB 벡터DB)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0000" y="7155000"/>
            <a:ext cx="33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7474F"/>
                </a:solidFill>
              </a:rPr>
              <a:t>├─ operations.py</a:t>
            </a:r>
            <a:r>
              <a:rPr sz="700">
                <a:solidFill>
                  <a:srgbClr val="647882"/>
                </a:solidFill>
              </a:rPr>
              <a:t> (문서CRUD·벡터검색)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00000" y="7155000"/>
            <a:ext cx="33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7474F"/>
                </a:solidFill>
              </a:rPr>
              <a:t>├─ client.py</a:t>
            </a:r>
            <a:r>
              <a:rPr sz="700">
                <a:solidFill>
                  <a:srgbClr val="647882"/>
                </a:solidFill>
              </a:rPr>
              <a:t> (REST통신·컬렉션관리)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0000" y="7320000"/>
            <a:ext cx="33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7474F"/>
                </a:solidFill>
              </a:rPr>
              <a:t>├─ utils.py</a:t>
            </a:r>
            <a:r>
              <a:rPr sz="700">
                <a:solidFill>
                  <a:srgbClr val="647882"/>
                </a:solidFill>
              </a:rPr>
              <a:t> (메타데이터·새니타이즈)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0000" y="7525000"/>
            <a:ext cx="696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78909C"/>
                </a:solidFill>
              </a:rPr>
              <a:t>■ src/utils/</a:t>
            </a:r>
            <a:r>
              <a:rPr sz="750">
                <a:solidFill>
                  <a:srgbClr val="78909C"/>
                </a:solidFill>
              </a:rPr>
              <a:t>  (공용 유틸리티)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0000" y="7735000"/>
            <a:ext cx="33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7474F"/>
                </a:solidFill>
              </a:rPr>
              <a:t>├─ validators.py</a:t>
            </a:r>
            <a:r>
              <a:rPr sz="700">
                <a:solidFill>
                  <a:srgbClr val="647882"/>
                </a:solidFill>
              </a:rPr>
              <a:t> (불린·센서값 검증)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00000" y="7735000"/>
            <a:ext cx="33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7474F"/>
                </a:solidFill>
              </a:rPr>
              <a:t>├─ conversion.py</a:t>
            </a:r>
            <a:r>
              <a:rPr sz="700">
                <a:solidFill>
                  <a:srgbClr val="647882"/>
                </a:solidFill>
              </a:rPr>
              <a:t> (안전 타입변환)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0000" y="7900000"/>
            <a:ext cx="33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7474F"/>
                </a:solidFill>
              </a:rPr>
              <a:t>├─ date_utils.py</a:t>
            </a:r>
            <a:r>
              <a:rPr sz="700">
                <a:solidFill>
                  <a:srgbClr val="647882"/>
                </a:solidFill>
              </a:rPr>
              <a:t> (날짜 파싱)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00000" y="10300000"/>
            <a:ext cx="696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B4B4B4"/>
                </a:solidFill>
              </a:defRPr>
            </a:pPr>
            <a:r>
              <a:t>자연들에 (Jayeondeule) — AgriAI Core v2.0  |  총 70개 모듈, 19,166줄  |  2026-04-04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